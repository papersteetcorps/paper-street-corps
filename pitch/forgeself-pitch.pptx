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3A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6400800"/>
          </a:xfrm>
          <a:prstGeom prst="ellipse">
            <a:avLst/>
          </a:prstGeom>
          <a:solidFill>
            <a:srgbClr val="4A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01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6459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4000" b="1" spc="-60">
                <a:solidFill>
                  <a:srgbClr val="E8622A"/>
                </a:solidFill>
                <a:latin typeface="Instrument Sans"/>
              </a:rPr>
              <a:t>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0896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4000" b="1" spc="-60">
                <a:solidFill>
                  <a:srgbClr val="A855F7"/>
                </a:solidFill>
                <a:latin typeface="Instrument Sans"/>
              </a:rPr>
              <a:t>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190" y="4983480"/>
            <a:ext cx="914400" cy="15000"/>
          </a:xfrm>
          <a:prstGeom prst="rect">
            <a:avLst/>
          </a:prstGeom>
          <a:solidFill>
            <a:srgbClr val="E8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166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9999A8"/>
                </a:solidFill>
                <a:latin typeface="Instrument Sans"/>
              </a:rPr>
              <a:t>forgeself.xyz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BBBBC4"/>
                </a:solidFill>
                <a:latin typeface="Plus Jakarta Sans"/>
              </a:rPr>
              <a:t>Figure yourself out. Then do something about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spc="-30">
                <a:solidFill>
                  <a:srgbClr val="F5F5F7"/>
                </a:solidFill>
                <a:latin typeface="Space Grotesk"/>
              </a:rPr>
              <a:t>Personality tests are broken.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Most are either rigid multiple-choice or fluffy quizzes that tell you nothing useful. None of them help you actually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Multiple choice can't capture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14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Real personality is messy. Forcing it into A/B/C/D loses everything that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Single frameworks are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MBTI alone misses energy patterns. Enneagram alone misses cognitive style. You need multiple lenses.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967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715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No one tells you what to do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60350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"You're an INTJ" — and? Where's the part where you actually grow?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30">
                <a:solidFill>
                  <a:srgbClr val="F5F5F7"/>
                </a:solidFill>
                <a:latin typeface="Space Grotesk"/>
              </a:rPr>
              <a:t>Tell your story.
We read the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ForgeSelf uses six psychological frameworks and AI to read across your life, find what's consistent, and tell you what to do about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44805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3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E8622A"/>
                </a:solidFill>
                <a:latin typeface="Space Grotesk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5F5F7"/>
                </a:solidFill>
                <a:latin typeface="Space Grotesk"/>
              </a:rPr>
              <a:t>No multiple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321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You write or speak about yourself. AI reads what's actually there.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2062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44805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3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498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E8622A"/>
                </a:solidFill>
                <a:latin typeface="Space Grotesk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1206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5F5F7"/>
                </a:solidFill>
                <a:latin typeface="Space Grotesk"/>
              </a:rPr>
              <a:t>Six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5321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Cross-validate your traits across Jungian, Socionics, Enneagram and more.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2062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44805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3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498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E8622A"/>
                </a:solidFill>
                <a:latin typeface="Space Grotesk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1206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5F5F7"/>
                </a:solidFill>
                <a:latin typeface="Space Grotesk"/>
              </a:rPr>
              <a:t>Actually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5321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Get concrete next steps, not vague horoscope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Four steps to forge yourself.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spc="300">
                <a:solidFill>
                  <a:srgbClr val="E8622A"/>
                </a:solidFill>
                <a:latin typeface="Space Grotes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Tell your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Write or speak naturally. No checkboxes, no scales.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10896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spc="300">
                <a:solidFill>
                  <a:srgbClr val="E8622A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886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AI reads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3891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Six frameworks analyse what you wrote — across cognitive, emotional, and energy domains.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0896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spc="300">
                <a:solidFill>
                  <a:srgbClr val="E8622A"/>
                </a:solidFill>
                <a:latin typeface="Space Grotes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See yourself clearly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Get a unified profile that combines all six lenses into one honest picture.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10896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spc="300">
                <a:solidFill>
                  <a:srgbClr val="E8622A"/>
                </a:solidFill>
                <a:latin typeface="Space Grotes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886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Forge ahead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3891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Concrete growth steps tailored to your patterns, plus a chat to dig deeper.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WHAT YOU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Six frameworks. One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971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900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7C5CFC"/>
                </a:solidFill>
                <a:latin typeface="Space Grotesk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Jungian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8 cognitive functions, 16 type stack, story-based.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743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971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9900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E8622A"/>
                </a:solidFill>
                <a:latin typeface="Space Grotesk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Socionics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404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Information processing &amp; interaction style.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743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2971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9900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A855F7"/>
                </a:solidFill>
                <a:latin typeface="Space Grotesk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Energy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404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Where your energy goes &amp; burnout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709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A855F7"/>
                </a:solidFill>
                <a:latin typeface="Space Grotesk"/>
              </a:rPr>
              <a:t>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Temperaments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Choleric, Melancholic, Phlegmatic, Sanguine.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4805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54880" y="4709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2DD4BF"/>
                </a:solidFill>
                <a:latin typeface="Space Grotesk"/>
              </a:rPr>
              <a:t>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257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Moral Alignment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5778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Where you fall on order-chaos and good-evil.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4805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03920" y="4709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E8622A"/>
                </a:solidFill>
                <a:latin typeface="Space Grotesk"/>
              </a:rPr>
              <a:t>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257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5F5F7"/>
                </a:solidFill>
                <a:latin typeface="Space Grotesk"/>
              </a:rPr>
              <a:t>Enneagram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5778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Life-phase analysis across 9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THE FORGE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How to forge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Knowing your type is step one. Forging yourself is the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622A"/>
                </a:solidFill>
                <a:latin typeface="Space Grotesk"/>
              </a:rPr>
              <a:t>Heat — see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BBBC4"/>
                </a:solidFill>
                <a:latin typeface="Plus Jakarta Sans"/>
              </a:rPr>
              <a:t>Honest input from six frameworks. The truths you've been avoiding surface in plain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1089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622A"/>
                </a:solidFill>
                <a:latin typeface="Space Grotesk"/>
              </a:rPr>
              <a:t>Hammer — name the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947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BBBC4"/>
                </a:solidFill>
                <a:latin typeface="Plus Jakarta Sans"/>
              </a:rPr>
              <a:t>AI synthesis spots what runs through every framework — the core pattern beneath everything.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622A"/>
                </a:solidFill>
                <a:latin typeface="Space Grotesk"/>
              </a:rPr>
              <a:t>Shape — act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BBBC4"/>
                </a:solidFill>
                <a:latin typeface="Plus Jakarta Sans"/>
              </a:rPr>
              <a:t>Concrete growth path with specific actions. Not "try journaling" — actual moves for your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80060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983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622A"/>
                </a:solidFill>
                <a:latin typeface="Space Grotesk"/>
              </a:rPr>
              <a:t>Temper — repeat &amp;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86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BBBC4"/>
                </a:solidFill>
                <a:latin typeface="Plus Jakarta Sans"/>
              </a:rPr>
              <a:t>Come back over time. Re-test, see how you've changed, sharpen the next iteration.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WHY FORGESELF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No one else does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00">
                <a:solidFill>
                  <a:srgbClr val="8E8E99"/>
                </a:solidFill>
                <a:latin typeface="Space Grotesk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00">
                <a:solidFill>
                  <a:srgbClr val="8E8E99"/>
                </a:solidFill>
                <a:latin typeface="Space Grotesk"/>
              </a:rPr>
              <a:t>FREE QUIZZES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00">
                <a:solidFill>
                  <a:srgbClr val="8E8E99"/>
                </a:solidFill>
                <a:latin typeface="Space Grotesk"/>
              </a:rPr>
              <a:t>16PERSONALITIES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4688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spc="200">
                <a:solidFill>
                  <a:srgbClr val="8E8E99"/>
                </a:solidFill>
                <a:latin typeface="Space Grotesk"/>
              </a:rPr>
              <a:t>FORGESELF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69848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9067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Open-ended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9067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47872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6674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Multiple frameworks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6674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6674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666744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6 frameworks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23944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42816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AI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24281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24281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242816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00016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1888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Conversational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8188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188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81888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76088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949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Voice 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3949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3949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3949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9710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Growth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9710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E8E99"/>
                </a:solidFill>
                <a:latin typeface="Plus Jakarta Sans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97103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Generic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97103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E8622A"/>
                </a:solidFill>
                <a:latin typeface="Plus Jakarta Sans"/>
              </a:rPr>
              <a:t>Personalised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Freemium → premium.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Free taste. Pay for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BBBBC4"/>
                </a:solidFill>
                <a:latin typeface="Plus Jakarta Sans"/>
              </a:rPr>
              <a:t>One free framework. Strong enough to share, deep enough to want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918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61188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20624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BBBBC4"/>
                </a:solidFill>
                <a:latin typeface="Plus Jakarta Sans"/>
              </a:rPr>
              <a:t>Unlock all 6 frameworks + AI synthesis + chat for $5/mo.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2918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61188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E8622A"/>
                </a:solidFill>
                <a:latin typeface="Space Grotesk"/>
              </a:rPr>
              <a:t>Retain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20624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BBBBC4"/>
                </a:solidFill>
                <a:latin typeface="Plus Jakarta Sans"/>
              </a:rPr>
              <a:t>Pro tier ($8/mo) adds voice, progress tracking, and personalised growth plans.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09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Simple. Honest. Cheap.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5F5F7"/>
                </a:solidFill>
                <a:latin typeface="Space Grotesk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200" b="1">
                <a:solidFill>
                  <a:srgbClr val="F5F5F7"/>
                </a:solidFill>
                <a:latin typeface="Space Grotesk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86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E8E99"/>
                </a:solidFill>
                <a:latin typeface="Plus Jakarta Sans"/>
              </a:rPr>
              <a:t>/forever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1 framework (Jungian)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91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91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Basic result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0235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3 chat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13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1324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Email-only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42316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1F100A"/>
          </a:solidFill>
          <a:ln w="19050">
            <a:solidFill>
              <a:srgbClr val="E8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225856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8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3042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 spc="200">
                <a:solidFill>
                  <a:srgbClr val="FFFFFF"/>
                </a:solidFill>
                <a:latin typeface="Space Grotesk"/>
              </a:rPr>
              <a:t>MOST POPULAR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788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5F5F7"/>
                </a:solidFill>
                <a:latin typeface="Space Grotesk"/>
              </a:rPr>
              <a:t>Forge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200" b="1">
                <a:solidFill>
                  <a:srgbClr val="F5F5F7"/>
                </a:solidFill>
                <a:latin typeface="Space Grotesk"/>
              </a:rPr>
              <a:t>$5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7490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E8E99"/>
                </a:solidFill>
                <a:latin typeface="Plus Jakarta Sans"/>
              </a:rPr>
              <a:t>/month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434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All 6 frameworks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654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65429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AI synthesis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9651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9651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Unlimited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276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27608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Shareable result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586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Re-test anytime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56032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2926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5F5F7"/>
                </a:solidFill>
                <a:latin typeface="Space Grotesk"/>
              </a:rPr>
              <a:t>Forge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4290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200" b="1">
                <a:solidFill>
                  <a:srgbClr val="F5F5F7"/>
                </a:solidFill>
                <a:latin typeface="Space Grotesk"/>
              </a:rPr>
              <a:t>$8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886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E8E99"/>
                </a:solidFill>
                <a:latin typeface="Plus Jakarta Sans"/>
              </a:rPr>
              <a:t>/month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80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4805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Everything in Forge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791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79145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Voice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102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10235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Progress tracking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413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41324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Personalised growth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724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622A"/>
                </a:solidFill>
                <a:latin typeface="Space Grotesk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7241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Priority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REVENUE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100 paying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Assumed split: 70% Forge ($5) / 30% Forge Pro ($8).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MONTHLY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YEARLY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078992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Forge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$350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$4,200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86784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782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Forge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078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078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078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078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$2,880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98848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2D160B"/>
          </a:solidFill>
          <a:ln w="12700">
            <a:solidFill>
              <a:srgbClr val="E8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5902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902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$590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$7,080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$590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MRR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$7,080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ARR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$5.90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Avg ARPU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REVENUE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500 paying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Same split. The numbers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MONTHLY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YEARLY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078992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Forge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$1,750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$21,000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86784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782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Forge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078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078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078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$1,200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0782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5F5F7"/>
                </a:solidFill>
                <a:latin typeface="Plus Jakarta Sans"/>
              </a:rPr>
              <a:t>$14,400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98848"/>
            <a:ext cx="10789920" cy="457200"/>
          </a:xfrm>
          <a:prstGeom prst="roundRect">
            <a:avLst>
              <a:gd name="adj" fmla="val 8000"/>
            </a:avLst>
          </a:prstGeom>
          <a:solidFill>
            <a:srgbClr val="2D160B"/>
          </a:solidFill>
          <a:ln w="12700">
            <a:solidFill>
              <a:srgbClr val="E8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5902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902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$2,950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59028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622A"/>
                </a:solidFill>
                <a:latin typeface="Space Grotesk"/>
              </a:rPr>
              <a:t>$35,400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$2,950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MRR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$35,400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ARR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5321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71500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E8622A"/>
                </a:solidFill>
                <a:latin typeface="Space Grotesk"/>
              </a:rPr>
              <a:t>5x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2453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9999A8"/>
                </a:solidFill>
                <a:latin typeface="Plus Jakarta Sans"/>
              </a:rPr>
              <a:t>vs 100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TEAM &amp;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Who builds this. What it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999A8"/>
                </a:solidFill>
                <a:latin typeface="Plus Jakarta Sans"/>
              </a:rPr>
              <a:t>Three founders. Two minimum salaries. One 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F100A"/>
          </a:solidFill>
          <a:ln w="19050">
            <a:solidFill>
              <a:srgbClr val="E8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FOUNDER &amp;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5F5F7"/>
                </a:solidFill>
                <a:latin typeface="Space Grotesk"/>
              </a:rPr>
              <a:t>Zoe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E8622A"/>
                </a:solidFill>
                <a:latin typeface="Space Grotesk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EQUITY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892040"/>
            <a:ext cx="260604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5604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No 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3892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Space Grotesk"/>
              </a:rPr>
              <a:t>Equity-only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9260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CO-FOUNDER &amp;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5F5F7"/>
                </a:solidFill>
                <a:latin typeface="Space Grotesk"/>
              </a:rPr>
              <a:t>Gourav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233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E8622A"/>
                </a:solidFill>
                <a:latin typeface="Space Grotesk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EQUITY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892040"/>
            <a:ext cx="260604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95604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Monthly salary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3892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Space Grotesk"/>
              </a:rPr>
              <a:t>$600 / 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9260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2004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200">
                <a:solidFill>
                  <a:srgbClr val="8E8E99"/>
                </a:solidFill>
                <a:latin typeface="Space Grotesk"/>
              </a:rPr>
              <a:t>CO-FOUNDER &amp;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204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F5F5F7"/>
                </a:solidFill>
                <a:latin typeface="Space Grotesk"/>
              </a:rPr>
              <a:t>Pratik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E8622A"/>
                </a:solidFill>
                <a:latin typeface="Space Grotesk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177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EQUITY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4892040"/>
            <a:ext cx="2606040" cy="9525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95604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Monthly salary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13892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Space Grotesk"/>
              </a:rPr>
              <a:t>$600 / 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778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42432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E8622A"/>
                </a:solidFill>
                <a:latin typeface="Space Grotesk"/>
              </a:rPr>
              <a:t>$1,200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Monthly burn (salaries)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55778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742432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E8622A"/>
                </a:solidFill>
                <a:latin typeface="Space Grotesk"/>
              </a:rPr>
              <a:t>~204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2179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Users to break even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5778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742432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E8622A"/>
                </a:solidFill>
                <a:latin typeface="Space Grotesk"/>
              </a:rPr>
              <a:t>$1,750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2179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999A8"/>
                </a:solidFill>
                <a:latin typeface="Plus Jakarta Sans"/>
              </a:rPr>
              <a:t>Net profit at 500 users / 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5F7"/>
                </a:solidFill>
                <a:latin typeface="Instrument Sans"/>
              </a:rPr>
              <a:t>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622A"/>
                </a:solidFill>
                <a:latin typeface="Instrument Sans"/>
              </a:rPr>
              <a:t>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0" spc="200">
                <a:solidFill>
                  <a:srgbClr val="8E8E99"/>
                </a:solidFill>
                <a:latin typeface="Space Grotesk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300">
                <a:solidFill>
                  <a:srgbClr val="8E8E99"/>
                </a:solidFill>
                <a:latin typeface="Space Grotesk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spc="-25">
                <a:solidFill>
                  <a:srgbClr val="F5F5F7"/>
                </a:solidFill>
                <a:latin typeface="Space Grotesk"/>
              </a:rPr>
              <a:t>The roadmap.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200">
                <a:solidFill>
                  <a:srgbClr val="E8622A"/>
                </a:solidFill>
                <a:latin typeface="Space Grotesk"/>
              </a:rPr>
              <a:t>NOW (MVP)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6 frameworks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AI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3989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Result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2394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Browser voice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22860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2514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200">
                <a:solidFill>
                  <a:srgbClr val="E8622A"/>
                </a:solidFill>
                <a:latin typeface="Space Grotesk"/>
              </a:rPr>
              <a:t>Q3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971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Shareable result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33558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Native mobile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373989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Stripe billing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412394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Re-test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22860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2514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200">
                <a:solidFill>
                  <a:srgbClr val="E8622A"/>
                </a:solidFill>
                <a:latin typeface="Space Grotesk"/>
              </a:rP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2971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Progress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33558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Personalised growth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4264" y="373989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Premium voice (AssemblyAI)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412394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iOS / Android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17736" y="22860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6161F"/>
          </a:solidFill>
          <a:ln w="952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2514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spc="200">
                <a:solidFill>
                  <a:srgbClr val="E8622A"/>
                </a:solidFill>
                <a:latin typeface="Space Grotesk"/>
              </a:rPr>
              <a:t>2027+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971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Coach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3558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Couples &amp; team profiles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373989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Affiliate program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412394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BBBBC4"/>
                </a:solidFill>
                <a:latin typeface="Plus Jakarta Sans"/>
              </a:rPr>
              <a:t>API for researchers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10698480" cy="1554480"/>
          </a:xfrm>
          <a:prstGeom prst="roundRect">
            <a:avLst>
              <a:gd name="adj" fmla="val 10000"/>
            </a:avLst>
          </a:prstGeom>
          <a:solidFill>
            <a:srgbClr val="1F100A"/>
          </a:solidFill>
          <a:ln w="19050">
            <a:solidFill>
              <a:srgbClr val="E8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200" b="1" spc="-30">
                <a:solidFill>
                  <a:srgbClr val="E8622A"/>
                </a:solidFill>
                <a:latin typeface="Instrument Sans"/>
              </a:rPr>
              <a:t>FORGESELF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BBBBC4"/>
                </a:solidFill>
                <a:latin typeface="Instrument Sans"/>
              </a:rPr>
              <a:t>forgeself.xyz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999A8"/>
                </a:solidFill>
                <a:latin typeface="Plus Jakarta Sans"/>
              </a:rPr>
              <a:t>Figure yourself out. Then do something about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